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Playfair Display"/>
      <p:regular r:id="rId18"/>
      <p:bold r:id="rId19"/>
      <p:italic r:id="rId20"/>
      <p:boldItalic r:id="rId21"/>
    </p:embeddedFont>
    <p:embeddedFont>
      <p:font typeface="Inter"/>
      <p:regular r:id="rId22"/>
      <p:bold r:id="rId23"/>
      <p:italic r:id="rId24"/>
      <p:boldItalic r:id="rId25"/>
    </p:embeddedFont>
    <p:embeddedFont>
      <p:font typeface="Quicksan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italic.fntdata"/><Relationship Id="rId22" Type="http://schemas.openxmlformats.org/officeDocument/2006/relationships/font" Target="fonts/Inter-regular.fntdata"/><Relationship Id="rId21" Type="http://schemas.openxmlformats.org/officeDocument/2006/relationships/font" Target="fonts/PlayfairDisplay-boldItalic.fntdata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Quicksand-regular.fntdata"/><Relationship Id="rId25" Type="http://schemas.openxmlformats.org/officeDocument/2006/relationships/font" Target="fonts/Inter-boldItalic.fntdata"/><Relationship Id="rId27" Type="http://schemas.openxmlformats.org/officeDocument/2006/relationships/font" Target="fonts/Quicksan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layfairDisplay-bold.fntdata"/><Relationship Id="rId18" Type="http://schemas.openxmlformats.org/officeDocument/2006/relationships/font" Target="fonts/PlayfairDispl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13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1688752"/>
            <a:ext cx="7620000" cy="348034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595562" y="2165002"/>
            <a:ext cx="7000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Intelligent Property Insights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762250" y="4184302"/>
            <a:ext cx="666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F1F5F9"/>
                </a:solidFill>
                <a:latin typeface="Quicksand"/>
                <a:ea typeface="Quicksand"/>
                <a:cs typeface="Quicksand"/>
                <a:sym typeface="Quicksand"/>
              </a:rPr>
              <a:t>Integrating Genkit AI for Dynamic Real Estate Experiences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76425"/>
            <a:ext cx="5334000" cy="441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876425"/>
            <a:ext cx="5334000" cy="44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62025" y="3167062"/>
            <a:ext cx="478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Quicksand"/>
                <a:ea typeface="Quicksand"/>
                <a:cs typeface="Quicksand"/>
                <a:sym typeface="Quicksand"/>
              </a:rPr>
              <a:t> Static Listings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3633787"/>
            <a:ext cx="45531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Quicksand"/>
                <a:ea typeface="Quicksand"/>
                <a:cs typeface="Quicksand"/>
                <a:sym typeface="Quicksand"/>
              </a:rPr>
              <a:t>Current property listings are hard-coded and lifeless. Users view raw data but lack a meaningful "conversation" with the platform to understand the deeper context of a property.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677025" y="3167062"/>
            <a:ext cx="478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Quicksand"/>
                <a:ea typeface="Quicksand"/>
                <a:cs typeface="Quicksand"/>
                <a:sym typeface="Quicksand"/>
              </a:rPr>
              <a:t>Missed Context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6677025" y="3633787"/>
            <a:ext cx="45531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475569"/>
                </a:solidFill>
                <a:latin typeface="Quicksand"/>
                <a:ea typeface="Quicksand"/>
                <a:cs typeface="Quicksand"/>
                <a:sym typeface="Quicksand"/>
              </a:rPr>
              <a:t>Buyers miss critical environmental factors, local trends, and location-specific advantages because this information isn't dynamically correlated with the property details.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3195637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Quicksand"/>
                <a:ea typeface="Quicksand"/>
                <a:cs typeface="Quicksand"/>
                <a:sym typeface="Quicksand"/>
              </a:rPr>
              <a:t>The Challenge: Static Engagement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571500" y="1371600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764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71500" y="2579642"/>
            <a:ext cx="55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Quicksand"/>
                <a:ea typeface="Quicksand"/>
                <a:cs typeface="Quicksand"/>
                <a:sym typeface="Quicksand"/>
              </a:rPr>
              <a:t>Dynamic Insight Generation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3105150"/>
            <a:ext cx="5238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Quicksand"/>
                <a:ea typeface="Quicksand"/>
                <a:cs typeface="Quicksand"/>
                <a:sym typeface="Quicksand"/>
              </a:rPr>
              <a:t>By integrating the Genkit AI framework, we solve the "static data" problem. The AI analyzes property data in real-time to generate engaging, human-like descriptions and insights.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4467225"/>
            <a:ext cx="5238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Quicksand"/>
                <a:ea typeface="Quicksand"/>
                <a:cs typeface="Quicksand"/>
                <a:sym typeface="Quicksand"/>
              </a:rPr>
              <a:t>This creates an interactive layer where the environment, features, and trends are synthesized into a compelling narrative for the user.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Quicksand"/>
                <a:ea typeface="Quicksand"/>
                <a:cs typeface="Quicksand"/>
                <a:sym typeface="Quicksand"/>
              </a:rPr>
              <a:t>The Solution: Genkit AI Integration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571500" y="1371600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9800"/>
            <a:ext cx="3492549" cy="3743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09800"/>
            <a:ext cx="3492549" cy="3743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09800"/>
            <a:ext cx="3492549" cy="37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794225" y="3219450"/>
            <a:ext cx="304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Features and Benefits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66775" y="3686175"/>
            <a:ext cx="2901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75569"/>
                </a:solidFill>
                <a:latin typeface="Quicksand"/>
                <a:ea typeface="Quicksand"/>
                <a:cs typeface="Quicksand"/>
                <a:sym typeface="Quicksand"/>
              </a:rPr>
              <a:t>Deep features insight allows </a:t>
            </a:r>
            <a:endParaRPr b="1" sz="1500">
              <a:solidFill>
                <a:srgbClr val="475569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75569"/>
                </a:solidFill>
                <a:latin typeface="Quicksand"/>
                <a:ea typeface="Quicksand"/>
                <a:cs typeface="Quicksand"/>
                <a:sym typeface="Quicksand"/>
              </a:rPr>
              <a:t>better understanding of properties</a:t>
            </a:r>
            <a:endParaRPr b="1" sz="1500">
              <a:solidFill>
                <a:srgbClr val="475569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4572524" y="321945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Market Trends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645074" y="3686175"/>
            <a:ext cx="2901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Quicksand"/>
                <a:ea typeface="Quicksand"/>
                <a:cs typeface="Quicksand"/>
                <a:sym typeface="Quicksand"/>
              </a:rPr>
              <a:t>Real-time integration of local market data to highlight investment potential, rental yield forecasts, and neighborhood appreciation.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8350824" y="321945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Location Advantages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423374" y="3686175"/>
            <a:ext cx="2901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475569"/>
                </a:solidFill>
                <a:latin typeface="Quicksand"/>
                <a:ea typeface="Quicksand"/>
                <a:cs typeface="Quicksand"/>
                <a:sym typeface="Quicksand"/>
              </a:rPr>
              <a:t>Automated highlighting of key nearby amenities like schools, transit hubs, and lifestyle centers that add specific value.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descr="image.png" id="127" name="Google Shape;12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7675" y="252412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38825" y="252412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17124" y="2524125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Dynamic Property Analysis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71500" y="1371600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885540" y="1869625"/>
            <a:ext cx="550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Generated Insights starts Customer journey even </a:t>
            </a:r>
            <a:r>
              <a:rPr b="1" lang="en-US" sz="2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before</a:t>
            </a:r>
            <a:r>
              <a:rPr b="1" lang="en-US" sz="2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meeting agent.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Enhanced User Engagement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571500" y="1371600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762000" y="2066925"/>
            <a:ext cx="4800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E293B"/>
                </a:solidFill>
                <a:latin typeface="Quicksand"/>
                <a:ea typeface="Quicksand"/>
                <a:cs typeface="Quicksand"/>
                <a:sym typeface="Quicksand"/>
              </a:rPr>
              <a:t>Data-Driven Decisions</a:t>
            </a:r>
            <a:endParaRPr b="1" sz="15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762000" y="2371725"/>
            <a:ext cx="4572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Quicksand"/>
                <a:ea typeface="Quicksand"/>
                <a:cs typeface="Quicksand"/>
                <a:sym typeface="Quicksand"/>
              </a:rPr>
              <a:t>A new AI-powered administrative dashboard will accompany the user-facing updates. This tool allows us to analyze how properties are performing in real-time.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762000" y="3733800"/>
            <a:ext cx="4572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Quicksand"/>
                <a:ea typeface="Quicksand"/>
                <a:cs typeface="Quicksand"/>
                <a:sym typeface="Quicksand"/>
              </a:rPr>
              <a:t>We can track sales velocity, compare rental trends against competitors, and identify portfolio gaps, directly influencing our strategic planning.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4317" y="2657475"/>
            <a:ext cx="355595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34025" y="2657475"/>
            <a:ext cx="3555950" cy="28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/>
        </p:nvSpPr>
        <p:spPr>
          <a:xfrm>
            <a:off x="2074817" y="2895600"/>
            <a:ext cx="3174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3x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2074817" y="3914775"/>
            <a:ext cx="3174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Productivity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2074817" y="4257675"/>
            <a:ext cx="3174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Quicksand"/>
                <a:ea typeface="Quicksand"/>
                <a:cs typeface="Quicksand"/>
                <a:sym typeface="Quicksand"/>
              </a:rPr>
              <a:t>Automated content generation reduces manual data entry and descriptive writing time.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6824525" y="2895600"/>
            <a:ext cx="3174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New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6824525" y="3914775"/>
            <a:ext cx="3174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Pipelines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6824525" y="4257675"/>
            <a:ext cx="3174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Quicksand"/>
                <a:ea typeface="Quicksand"/>
                <a:cs typeface="Quicksand"/>
                <a:sym typeface="Quicksand"/>
              </a:rPr>
              <a:t>Deep analytics uncover untapped market segments and diversification opportunities.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Business Impact</a:t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571500" y="1371600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857250" y="2081212"/>
            <a:ext cx="107634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 u="none" cap="none" strike="noStrike">
                <a:solidFill>
                  <a:srgbClr val="1E293B"/>
                </a:solidFill>
                <a:latin typeface="Quicksand"/>
                <a:ea typeface="Quicksand"/>
                <a:cs typeface="Quicksand"/>
                <a:sym typeface="Quicksand"/>
              </a:rPr>
              <a:t> "This integration doesn't just display properties; it analyzes and explains them. This capability allows us to diversify our portfolio and gain a distinct market advantage." 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571500" y="2081212"/>
            <a:ext cx="47625" cy="2133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571500" y="4500562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— Project Vision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7646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1764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 txBox="1"/>
          <p:nvPr/>
        </p:nvSpPr>
        <p:spPr>
          <a:xfrm>
            <a:off x="952500" y="2581275"/>
            <a:ext cx="4857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Quicksand"/>
                <a:ea typeface="Quicksand"/>
                <a:cs typeface="Quicksand"/>
                <a:sym typeface="Quicksand"/>
              </a:rPr>
              <a:t>Functional Real Estate App:</a:t>
            </a:r>
            <a:r>
              <a:rPr i="0" lang="en-US" sz="1500" u="none" cap="none" strike="noStrike">
                <a:solidFill>
                  <a:srgbClr val="475569"/>
                </a:solidFill>
                <a:latin typeface="Quicksand"/>
                <a:ea typeface="Quicksand"/>
                <a:cs typeface="Quicksand"/>
                <a:sym typeface="Quicksand"/>
              </a:rPr>
              <a:t> Full integration of Genkit framework into the existing live application.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952500" y="3429000"/>
            <a:ext cx="4857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Quicksand"/>
                <a:ea typeface="Quicksand"/>
                <a:cs typeface="Quicksand"/>
                <a:sym typeface="Quicksand"/>
              </a:rPr>
              <a:t>AI Insights Module:</a:t>
            </a:r>
            <a:r>
              <a:rPr i="0" lang="en-US" sz="1500" u="none" cap="none" strike="noStrike">
                <a:solidFill>
                  <a:srgbClr val="475569"/>
                </a:solidFill>
                <a:latin typeface="Quicksand"/>
                <a:ea typeface="Quicksand"/>
                <a:cs typeface="Quicksand"/>
                <a:sym typeface="Quicksand"/>
              </a:rPr>
              <a:t> User-facing feature for environmental, trend, and feature analysis per listing.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952500" y="4581525"/>
            <a:ext cx="4857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Quicksand"/>
                <a:ea typeface="Quicksand"/>
                <a:cs typeface="Quicksand"/>
                <a:sym typeface="Quicksand"/>
              </a:rPr>
              <a:t>Admin Analytics Dashboard:</a:t>
            </a:r>
            <a:r>
              <a:rPr i="0" lang="en-US" sz="1500" u="none" cap="none" strike="noStrike">
                <a:solidFill>
                  <a:srgbClr val="475569"/>
                </a:solidFill>
                <a:latin typeface="Quicksand"/>
                <a:ea typeface="Quicksand"/>
                <a:cs typeface="Quicksand"/>
                <a:sym typeface="Quicksand"/>
              </a:rPr>
              <a:t> Comprehensive backend for tracking sales, rentals, and competitor performance.(Fut</a:t>
            </a:r>
            <a:r>
              <a:rPr lang="en-US" sz="1500">
                <a:solidFill>
                  <a:srgbClr val="475569"/>
                </a:solidFill>
                <a:latin typeface="Quicksand"/>
                <a:ea typeface="Quicksand"/>
                <a:cs typeface="Quicksand"/>
                <a:sym typeface="Quicksand"/>
              </a:rPr>
              <a:t>ure)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Quicksand"/>
                <a:ea typeface="Quicksand"/>
                <a:cs typeface="Quicksand"/>
                <a:sym typeface="Quicksand"/>
              </a:rPr>
              <a:t>Project Deliverables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571500" y="1371600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3" name="Google Shape;18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003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480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00575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2"/>
          <p:cNvSpPr/>
          <p:nvPr/>
        </p:nvSpPr>
        <p:spPr>
          <a:xfrm>
            <a:off x="571500" y="4252912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 txBox="1"/>
          <p:nvPr/>
        </p:nvSpPr>
        <p:spPr>
          <a:xfrm>
            <a:off x="510733" y="3529012"/>
            <a:ext cx="25521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Phase 1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571500" y="3995737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Genkit Integration &amp; Data Training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3383413" y="3529012"/>
            <a:ext cx="25521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Phase 2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3444180" y="3995737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Insights Engine Development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6256094" y="3529012"/>
            <a:ext cx="25521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Phase 3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6316860" y="3995737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Dashboard &amp; Analytics Build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9128774" y="3529012"/>
            <a:ext cx="25521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Phase 4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9189541" y="3995737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Testing, Deployment &amp; Launch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Implementation Phases</a:t>
            </a: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571500" y="1371600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1691580" y="52054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4564260" y="52054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7436941" y="52054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10309621" y="52054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2424112"/>
            <a:ext cx="7620000" cy="2009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/>
          <p:nvPr/>
        </p:nvSpPr>
        <p:spPr>
          <a:xfrm>
            <a:off x="2595562" y="2900362"/>
            <a:ext cx="7000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Vision for the Future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2762250" y="3205162"/>
            <a:ext cx="6667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By solving the "static content" problem today, we build the foundation for a predictive, intelligent real estate platform of tomorrow.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/>
          <p:nvPr/>
        </p:nvSpPr>
        <p:spPr>
          <a:xfrm>
            <a:off x="571500" y="2812869"/>
            <a:ext cx="110490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4"/>
          <p:cNvSpPr/>
          <p:nvPr/>
        </p:nvSpPr>
        <p:spPr>
          <a:xfrm>
            <a:off x="571500" y="3795729"/>
            <a:ext cx="110490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0" name="Google Shape;22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880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4"/>
          <p:cNvSpPr txBox="1"/>
          <p:nvPr/>
        </p:nvSpPr>
        <p:spPr>
          <a:xfrm>
            <a:off x="1666875" y="1982408"/>
            <a:ext cx="9953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https://static.vecteezy.com/system/resources/previews/056/446/818/non_2x/3d-paper-clipboard-holder-with-checklist-symbol-clipboard-with-paper-sheet-and-check-mark-icon-3d-work-project-plan-productivity-checklist-vector.jpg</a:t>
            </a:r>
            <a:endParaRPr/>
          </a:p>
        </p:txBody>
      </p:sp>
      <p:sp>
        <p:nvSpPr>
          <p:cNvPr id="222" name="Google Shape;222;p24"/>
          <p:cNvSpPr txBox="1"/>
          <p:nvPr/>
        </p:nvSpPr>
        <p:spPr>
          <a:xfrm>
            <a:off x="1666875" y="2426213"/>
            <a:ext cx="99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223" name="Google Shape;22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7096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/>
        </p:nvSpPr>
        <p:spPr>
          <a:xfrm>
            <a:off x="1666875" y="2965269"/>
            <a:ext cx="9953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https://static.vecteezy.com/system/resources/thumbnails/070/528/655/small/person-holding-a-futuristic-smart-city-model-in-their-hands-showcasing-residential-buildings-and-skyscrapers-symbolizing-urban-development-and-real-estate-investment-photo.jpg</a:t>
            </a:r>
            <a:endParaRPr/>
          </a:p>
        </p:txBody>
      </p:sp>
      <p:sp>
        <p:nvSpPr>
          <p:cNvPr id="225" name="Google Shape;225;p24"/>
          <p:cNvSpPr txBox="1"/>
          <p:nvPr/>
        </p:nvSpPr>
        <p:spPr>
          <a:xfrm>
            <a:off x="1666875" y="3409074"/>
            <a:ext cx="99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226" name="Google Shape;22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75" y="405382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4"/>
          <p:cNvSpPr txBox="1"/>
          <p:nvPr/>
        </p:nvSpPr>
        <p:spPr>
          <a:xfrm>
            <a:off x="1666875" y="3948129"/>
            <a:ext cx="9953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https://static.vecteezy.com/system/resources/thumbnails/025/131/789/original/business-growth-2d-animation-analyst-pulling-arrow-up-graph-4k-motion-graphic-boost-productivity-profits-sales-increase-chart-colorful-animated-cartoon-flat-concept-white-background-video.jpg</a:t>
            </a:r>
            <a:endParaRPr/>
          </a:p>
        </p:txBody>
      </p:sp>
      <p:sp>
        <p:nvSpPr>
          <p:cNvPr id="228" name="Google Shape;228;p24"/>
          <p:cNvSpPr txBox="1"/>
          <p:nvPr/>
        </p:nvSpPr>
        <p:spPr>
          <a:xfrm>
            <a:off x="1666875" y="4391935"/>
            <a:ext cx="99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sp>
        <p:nvSpPr>
          <p:cNvPr id="229" name="Google Shape;229;p24"/>
          <p:cNvSpPr txBox="1"/>
          <p:nvPr/>
        </p:nvSpPr>
        <p:spPr>
          <a:xfrm>
            <a:off x="571500" y="129926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Quicksand"/>
                <a:ea typeface="Quicksand"/>
                <a:cs typeface="Quicksand"/>
                <a:sym typeface="Quicksand"/>
              </a:rPr>
              <a:t>Image Sources</a:t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30" name="Google Shape;230;p24"/>
          <p:cNvSpPr/>
          <p:nvPr/>
        </p:nvSpPr>
        <p:spPr>
          <a:xfrm>
            <a:off x="571500" y="930026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